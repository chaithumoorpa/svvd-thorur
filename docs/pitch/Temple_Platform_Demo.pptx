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219456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0" y="1371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B23A"/>
                </a:solidFill>
                <a:latin typeface="Calibri"/>
              </a:rPr>
              <a:t>ఓం గం గణపతయే నమః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2024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A Digital Home for Every Temple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5661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E3C8"/>
                </a:solidFill>
                <a:latin typeface="Calibri"/>
              </a:rPr>
              <a:t>Multilingual website, seva booking and temple management, proven at Sri Varasidhi Vinayaka Swamy Devasthanam, Thorur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9377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B23A"/>
                </a:solidFill>
                <a:latin typeface="Calibri"/>
              </a:rPr>
              <a:t>Live demo  |  Packages  | 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B1A1A"/>
                </a:solidFill>
                <a:latin typeface="Calibri"/>
              </a:rPr>
              <a:t>Vriksha Studio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Why temples need more than a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What devotees and temple offices struggle with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9144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B1A1A"/>
                </a:solidFill>
                <a:latin typeface="Georgia"/>
              </a:rPr>
              <a:t>For devotees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Timings and festival dates hard to find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Seva booking by phone or in person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Information only in one language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Poor experience on mobile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566160" cy="914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7A1E"/>
                </a:solidFill>
                <a:latin typeface="Georgia"/>
              </a:rPr>
              <a:t>For the temple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Paper receipts and registers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No single record of donors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Accounts scattered in notebooks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No trail of who changed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566160" cy="9144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B1A1A"/>
                </a:solidFill>
                <a:latin typeface="Georgia"/>
              </a:rPr>
              <a:t>For trustees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Little visibility into income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Trust depends on one person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Hard to show transparency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Data privacy obligations (DPDPA)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B1A1A"/>
                </a:solidFill>
                <a:latin typeface="Georgia"/>
              </a:rPr>
              <a:t>One platform answers all three: a public site, an admin office and an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Live demo: the public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Running on localhost, the same codebase that serves svvdthorur.org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19" y="1508760"/>
            <a:ext cx="7315200" cy="4606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223760" cy="45148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138160" y="1847088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373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Deity carousel with Sanskrit/Telugu greeting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414016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304288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Darshan timings always on top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2980944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871215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Announcements feed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3547872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438144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Clear navigation: Timings, Poojas, Festivals, Gallery, About, Contact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4114800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00507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Temple branding in one theme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Five languages, built for the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English, Telugu, Tamil, Kannada, Hindi: each on its own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19" y="1508760"/>
            <a:ext cx="6492240" cy="4091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lug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400800" cy="4000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1508760"/>
            <a:ext cx="216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2070400" cy="44805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966960" y="1847088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737360"/>
            <a:ext cx="1828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Per-language SEO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0" y="2414016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2304288"/>
            <a:ext cx="1828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Mobile-first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0" y="2980944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2871215"/>
            <a:ext cx="1828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Add a language with one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Search engines see every language: canonical and hreflang tags, sitemap, structured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Devotee journey: book a seva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No account needed; account optional for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19" y="1508760"/>
            <a:ext cx="5029200" cy="3177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i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937760" cy="30861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35040" y="1645920"/>
            <a:ext cx="548640" cy="548640"/>
          </a:xfrm>
          <a:prstGeom prst="ellips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916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0"/>
                </a:solidFill>
                <a:latin typeface="Calibri"/>
              </a:rPr>
              <a:t>Choose a seva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514600"/>
            <a:ext cx="548640" cy="548640"/>
          </a:xfrm>
          <a:prstGeom prst="ellips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560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6032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0"/>
                </a:solidFill>
                <a:latin typeface="Calibri"/>
              </a:rPr>
              <a:t>Verify email with OTP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383280"/>
            <a:ext cx="548640" cy="548640"/>
          </a:xfrm>
          <a:prstGeom prst="ellips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429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290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0"/>
                </a:solidFill>
                <a:latin typeface="Calibri"/>
              </a:rPr>
              <a:t>Booking confirmed + QR ticket by email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251959"/>
            <a:ext cx="548640" cy="548640"/>
          </a:xfrm>
          <a:prstGeom prst="ellips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29767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9767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0"/>
                </a:solidFill>
                <a:latin typeface="Calibri"/>
              </a:rPr>
              <a:t>Pay at the counter (or online with gateway add-on)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5120640"/>
            <a:ext cx="548640" cy="548640"/>
          </a:xfrm>
          <a:prstGeom prst="ellips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16635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16635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2020"/>
                </a:solidFill>
                <a:latin typeface="Calibri"/>
              </a:rPr>
              <a:t>Staff scans QR at the temple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9436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87A1E"/>
                </a:solidFill>
                <a:latin typeface="Calibri"/>
              </a:rPr>
              <a:t>Optional sign-in shows 'My Bookings'; personal blessing email on birthdays and anniversaries.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Donations with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Archive of historical donors today, online giving as an add-on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19" y="1508760"/>
            <a:ext cx="6858000" cy="4320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nation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42291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680960" y="1847088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7373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Historic donors, land and item donors, committee archive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2414016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30428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Admin records donations and issues PDF receipts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2980944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871215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A receipt, once issued, cannot be edited or deleted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3547872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43814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Every rupee posts to the finance ledger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4114800"/>
            <a:ext cx="109728" cy="109728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400507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020"/>
                </a:solidFill>
                <a:latin typeface="Calibri"/>
              </a:rPr>
              <a:t>Gateway (UPI/cards) available as add-on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Behind the scenes: the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Staff manage everything without a developer: 14 modules, 5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Announcements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Festivals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73736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830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Poojas &amp; Sevas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Gallery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5146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5603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Timings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Seva Tickets + QR scan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5146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Donors &amp; Donations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9183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Finance ledger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29183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3375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Members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3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375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Messages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29183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3375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6907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Audit 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069079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148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Temple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7A1E"/>
                </a:solidFill>
                <a:latin typeface="Georgia"/>
              </a:rPr>
              <a:t>Roles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2148840" cy="1005840"/>
          </a:xfrm>
          <a:prstGeom prst="rect">
            <a:avLst/>
          </a:prstGeom>
          <a:solidFill>
            <a:srgbClr val="7B1A1A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Super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1500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3E3C8"/>
                </a:solidFill>
                <a:latin typeface="Calibri"/>
              </a:rPr>
              <a:t>Everything + users +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30352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349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71500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020"/>
                </a:solidFill>
                <a:latin typeface="Calibri"/>
              </a:rPr>
              <a:t>All content, donors, finance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530352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79" y="5349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Trustee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9" y="571500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020"/>
                </a:solidFill>
                <a:latin typeface="Calibri"/>
              </a:rPr>
              <a:t>Read-only oversight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530352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5349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Staff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71500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020"/>
                </a:solidFill>
                <a:latin typeface="Calibri"/>
              </a:rPr>
              <a:t>Content, tickets, messages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530352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5349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B1A1A"/>
                </a:solidFill>
                <a:latin typeface="Calibri"/>
              </a:rPr>
              <a:t>Devotee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571500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020"/>
                </a:solidFill>
                <a:latin typeface="Calibri"/>
              </a:rPr>
              <a:t>Own bookings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Modern, tested, containerised: low cost to run, easy to hand 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011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B1A1A"/>
                </a:solidFill>
                <a:latin typeface="Calibri"/>
              </a:rPr>
              <a:t>Devotee / Staff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B1A1A"/>
                </a:solidFill>
                <a:latin typeface="Calibri"/>
              </a:rPr>
              <a:t>(browser)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7A1E"/>
                </a:solidFill>
                <a:latin typeface="Calibr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011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B1A1A"/>
                </a:solidFill>
                <a:latin typeface="Calibri"/>
              </a:rPr>
              <a:t>Nginx + TLS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B1A1A"/>
                </a:solidFill>
                <a:latin typeface="Calibri"/>
              </a:rPr>
              <a:t>(Let's Encrypt)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7A1E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011680"/>
            <a:ext cx="2011680" cy="1188720"/>
          </a:xfrm>
          <a:prstGeom prst="roundRect">
            <a:avLst/>
          </a:prstGeom>
          <a:solidFill>
            <a:srgbClr val="7B1A1A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011680"/>
            <a:ext cx="2011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Next.js 15 + React 19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public site, admin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7A1E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2011680" cy="1188720"/>
          </a:xfrm>
          <a:prstGeom prst="roundRect">
            <a:avLst/>
          </a:prstGeom>
          <a:solidFill>
            <a:srgbClr val="7B1A1A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011680"/>
            <a:ext cx="2011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FastAPI (Python)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52 REST endpoints,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7A1E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011680"/>
            <a:ext cx="2011680" cy="1188720"/>
          </a:xfrm>
          <a:prstGeom prst="roundRect">
            <a:avLst/>
          </a:prstGeom>
          <a:solidFill>
            <a:srgbClr val="C87A1E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011680"/>
            <a:ext cx="2011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93192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9319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B2020"/>
                </a:solidFill>
                <a:latin typeface="Calibri"/>
              </a:rPr>
              <a:t>AWS S3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B2020"/>
                </a:solidFill>
                <a:latin typeface="Calibri"/>
              </a:rPr>
              <a:t>gallery, tickets, receipts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93192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3192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B2020"/>
                </a:solidFill>
                <a:latin typeface="Calibri"/>
              </a:rPr>
              <a:t>AWS SES</a:t>
            </a:r>
          </a:p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B2020"/>
                </a:solidFill>
                <a:latin typeface="Calibri"/>
              </a:rPr>
              <a:t>OTP, confirmations,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One server per temple: ~₹1,000 a month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Docker Compose; GitHub Actions deploys after tests pass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21 versioned DB migrations, ~40 test modules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Each temple isolated: own domain, data and branding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Trust: security and privacy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9144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B1A1A"/>
                </a:solidFill>
                <a:latin typeface="Georgia"/>
              </a:rPr>
              <a:t>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Five roles; permissions checked on the server for every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611880" cy="914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7A1E"/>
                </a:solidFill>
                <a:latin typeface="Georgia"/>
              </a:rPr>
              <a:t>Two-factor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Email OTP; 30-minute idle timeout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11880" cy="9144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B1A1A"/>
                </a:solidFill>
                <a:latin typeface="Georgia"/>
              </a:rP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Every change recorded; alerts on bulk deletions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611880" cy="914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7A1E"/>
                </a:solidFill>
                <a:latin typeface="Georgia"/>
              </a:rPr>
              <a:t>Abuse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Rate limiting and bot challenge on public 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9319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931920"/>
            <a:ext cx="3611880" cy="9144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B1A1A"/>
                </a:solidFill>
                <a:latin typeface="Georgia"/>
              </a:rPr>
              <a:t>Privacy (DPDPA)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1772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Privacy policy on site, emails and tickets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319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931920"/>
            <a:ext cx="3611880" cy="914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148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7A1E"/>
                </a:solidFill>
                <a:latin typeface="Georgia"/>
              </a:rPr>
              <a:t>Safe by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17720"/>
            <a:ext cx="3246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HTTPS, hashed passwords, no AWS keys in app, dependency audits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Three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Same platform; choose what the temple needs today and grow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13716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₹55,000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3-4 weeks  |  one-time, excl. GST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Public website, 2 languages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Admin CMS and roles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Contact form, SEO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Hosting setup,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1371600"/>
          </a:xfrm>
          <a:prstGeom prst="rect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6002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₹1,40,000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603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6-8 weeks  |  one-time, excl. GST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0896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Everything in Essential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- 5 languages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Seva booking, OTP, QR ticket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Devotee accounts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Donors and PDF receipts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611880" cy="13716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0020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1168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₹2,60,000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5603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10-12 weeks  |  one-time, excl. GST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Everything in Standard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Finance ledger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Member directory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Audit log, 2FA, QR scan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020"/>
                </a:solidFill>
                <a:latin typeface="Calibri"/>
              </a:rPr>
              <a:t>- Occasion blessings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What it costs to run, and the multi-temple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Essential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Hosting, email, domain, backups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₹13,600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₹15,900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₹23,700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Maintenance &amp; support / yr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₹24,000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₹48,000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₹84,000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Recurring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₹37,600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₹63,900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020"/>
                          </a:solidFill>
                          <a:latin typeface="Calibri"/>
                        </a:rPr>
                        <a:t>₹1,07,700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Year 1 total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₹92,600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₹2,03,900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₹3,67,700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3-year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₹1,67,800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₹3,31,700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B2020"/>
                          </a:solidFill>
                          <a:latin typeface="Calibri"/>
                        </a:rPr>
                        <a:t>₹5,83,100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463040"/>
            <a:ext cx="374903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1463040"/>
            <a:ext cx="3749039" cy="9144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164592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7A1E"/>
                </a:solidFill>
                <a:latin typeface="Georgia"/>
              </a:rPr>
              <a:t>5 temples,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148840"/>
            <a:ext cx="338327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One-time platform work: ₹90,000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Temples 2-5: 25% off build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Year 1 total: ₹9,69,500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Without programme: ₹10,19,500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4444"/>
                </a:solidFill>
                <a:latin typeface="Calibri"/>
              </a:rPr>
              <a:t>Estimates in INR excl. 18% GST; online payment gateway is an optional ₹35,000 add-on.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4444"/>
                </a:solidFill>
                <a:latin typeface="Calibri"/>
              </a:rPr>
              <a:t>Hosting alone is about ₹800-1,200 a month per temple. Full detail in the Budget document.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B1A1A"/>
                </a:solidFill>
                <a:latin typeface="Georgia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From this demo to a live temple site in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7777"/>
                </a:solidFill>
                <a:latin typeface="Calibri"/>
              </a:rPr>
              <a:t>Temple Platform  |  Vriksha Studio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2103120"/>
            <a:ext cx="2103120" cy="640080"/>
          </a:xfrm>
          <a:prstGeom prst="homePlat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Week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Choose package, sign quotation</a:t>
            </a:r>
          </a:p>
        </p:txBody>
      </p:sp>
      <p:sp>
        <p:nvSpPr>
          <p:cNvPr id="9" name="Pentagon 8"/>
          <p:cNvSpPr/>
          <p:nvPr/>
        </p:nvSpPr>
        <p:spPr>
          <a:xfrm>
            <a:off x="2834640" y="2103120"/>
            <a:ext cx="2103120" cy="640080"/>
          </a:xfrm>
          <a:prstGeom prst="homePlat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2608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Collect content: timings, sevas, photos, committee</a:t>
            </a:r>
          </a:p>
        </p:txBody>
      </p:sp>
      <p:sp>
        <p:nvSpPr>
          <p:cNvPr id="12" name="Pentagon 11"/>
          <p:cNvSpPr/>
          <p:nvPr/>
        </p:nvSpPr>
        <p:spPr>
          <a:xfrm>
            <a:off x="5120640" y="2103120"/>
            <a:ext cx="2103120" cy="640080"/>
          </a:xfrm>
          <a:prstGeom prst="homePlat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031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Weeks 2-N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Build on staging; review with temple</a:t>
            </a:r>
          </a:p>
        </p:txBody>
      </p:sp>
      <p:sp>
        <p:nvSpPr>
          <p:cNvPr id="15" name="Pentagon 14"/>
          <p:cNvSpPr/>
          <p:nvPr/>
        </p:nvSpPr>
        <p:spPr>
          <a:xfrm>
            <a:off x="7406640" y="2103120"/>
            <a:ext cx="2103120" cy="640080"/>
          </a:xfrm>
          <a:prstGeom prst="homePlat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031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92608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Domain, HTTPS, training, handover</a:t>
            </a:r>
          </a:p>
        </p:txBody>
      </p:sp>
      <p:sp>
        <p:nvSpPr>
          <p:cNvPr id="18" name="Pentagon 17"/>
          <p:cNvSpPr/>
          <p:nvPr/>
        </p:nvSpPr>
        <p:spPr>
          <a:xfrm>
            <a:off x="9692640" y="2103120"/>
            <a:ext cx="2103120" cy="640080"/>
          </a:xfrm>
          <a:prstGeom prst="homePlate">
            <a:avLst/>
          </a:prstGeom>
          <a:solidFill>
            <a:srgbClr val="7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10312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2608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020"/>
                </a:solidFill>
                <a:latin typeface="Calibri"/>
              </a:rPr>
              <a:t>30-day hypercare, then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B1A1A"/>
                </a:solidFill>
                <a:latin typeface="Georgia"/>
              </a:rPr>
              <a:t>Pilot offer: the next temple's staging site can be set up for review before any commitment.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7A1E"/>
                </a:solidFill>
                <a:latin typeface="Calibri"/>
              </a:rPr>
              <a:t>Chaithanya M  |  vrikshastudio9@gmail.com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