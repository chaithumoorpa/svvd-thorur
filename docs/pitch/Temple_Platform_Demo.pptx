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2194560" cy="2194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474720" y="13716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E8B23A"/>
                </a:solidFill>
                <a:latin typeface="Calibri"/>
              </a:rPr>
              <a:t>ఓం గం గణపతయే నమః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920240"/>
            <a:ext cx="8229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Georgia"/>
              </a:rPr>
              <a:t>A Digital Home for Every Temple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356616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3E3C8"/>
                </a:solidFill>
                <a:latin typeface="Calibri"/>
              </a:rPr>
              <a:t>Multilingual website, seva booking and temple management, proven at Sri Varasidhi Vinayaka Swamy Devasthanam, Thorur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49377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E8B23A"/>
                </a:solidFill>
                <a:latin typeface="Calibri"/>
              </a:rPr>
              <a:t>Live demo  |  Packages  | 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7B1A1A"/>
                </a:solidFill>
                <a:latin typeface="Calibri"/>
              </a:rPr>
              <a:t>Vriksha Studio  |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7B1A1A"/>
                </a:solidFill>
                <a:latin typeface="Georgia"/>
              </a:rPr>
              <a:t>Why temples need more than a 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C87A1E"/>
                </a:solidFill>
                <a:latin typeface="Calibri"/>
              </a:rPr>
              <a:t>What devotees and temple offices struggle with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87777"/>
                </a:solidFill>
                <a:latin typeface="Calibri"/>
              </a:rPr>
              <a:t>Temple Platform  |  Vriksha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5661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3566160" cy="91440"/>
          </a:xfrm>
          <a:prstGeom prst="rect">
            <a:avLst/>
          </a:prstGeom>
          <a:solidFill>
            <a:srgbClr val="7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B1A1A"/>
                </a:solidFill>
                <a:latin typeface="Georgia"/>
              </a:rPr>
              <a:t>For devotees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32004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Timings and festival dates hard to find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Seva booking by phone or in person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Information only in one language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Poor experience on mobile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645920"/>
            <a:ext cx="35661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645920"/>
            <a:ext cx="3566160" cy="91440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82880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7A1E"/>
                </a:solidFill>
                <a:latin typeface="Georgia"/>
              </a:rPr>
              <a:t>For the temple office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331720"/>
            <a:ext cx="32004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Paper receipts and registers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No single record of donors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Accounts scattered in notebooks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No trail of who changed what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5661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645920"/>
            <a:ext cx="3566160" cy="91440"/>
          </a:xfrm>
          <a:prstGeom prst="rect">
            <a:avLst/>
          </a:prstGeom>
          <a:solidFill>
            <a:srgbClr val="7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B1A1A"/>
                </a:solidFill>
                <a:latin typeface="Georgia"/>
              </a:rPr>
              <a:t>For trustees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331720"/>
            <a:ext cx="32004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Little visibility into income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Trust depends on one person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Hard to show transparency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Data privacy obligations (DPDPA)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03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7B1A1A"/>
                </a:solidFill>
                <a:latin typeface="Georgia"/>
              </a:rPr>
              <a:t>One platform answers all three: a public site, an admin office and an audit trail.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7B1A1A"/>
                </a:solidFill>
                <a:latin typeface="Georgia"/>
              </a:rPr>
              <a:t>Live demo: the public 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C87A1E"/>
                </a:solidFill>
                <a:latin typeface="Calibri"/>
              </a:rPr>
              <a:t>Running on localhost, the same codebase that serves svvdthorur.org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87777"/>
                </a:solidFill>
                <a:latin typeface="Calibri"/>
              </a:rPr>
              <a:t>Temple Platform  |  Vriksha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19" y="1508760"/>
            <a:ext cx="7315200" cy="460629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223760" cy="451485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8138160" y="1847088"/>
            <a:ext cx="109728" cy="109728"/>
          </a:xfrm>
          <a:prstGeom prst="ellipse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73736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0"/>
                </a:solidFill>
                <a:latin typeface="Calibri"/>
              </a:rPr>
              <a:t>Deity carousel with Sanskrit/Telugu greeting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414016"/>
            <a:ext cx="109728" cy="109728"/>
          </a:xfrm>
          <a:prstGeom prst="ellipse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304288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0"/>
                </a:solidFill>
                <a:latin typeface="Calibri"/>
              </a:rPr>
              <a:t>Darshan timings always on top</a:t>
            </a:r>
          </a:p>
        </p:txBody>
      </p:sp>
      <p:sp>
        <p:nvSpPr>
          <p:cNvPr id="12" name="Oval 11"/>
          <p:cNvSpPr/>
          <p:nvPr/>
        </p:nvSpPr>
        <p:spPr>
          <a:xfrm>
            <a:off x="8138160" y="2980944"/>
            <a:ext cx="109728" cy="109728"/>
          </a:xfrm>
          <a:prstGeom prst="ellipse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871215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0"/>
                </a:solidFill>
                <a:latin typeface="Calibri"/>
              </a:rPr>
              <a:t>Announcements feed</a:t>
            </a:r>
          </a:p>
        </p:txBody>
      </p:sp>
      <p:sp>
        <p:nvSpPr>
          <p:cNvPr id="14" name="Oval 13"/>
          <p:cNvSpPr/>
          <p:nvPr/>
        </p:nvSpPr>
        <p:spPr>
          <a:xfrm>
            <a:off x="8138160" y="3547872"/>
            <a:ext cx="109728" cy="109728"/>
          </a:xfrm>
          <a:prstGeom prst="ellipse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438144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0"/>
                </a:solidFill>
                <a:latin typeface="Calibri"/>
              </a:rPr>
              <a:t>Clear navigation: Timings, Poojas, Festivals, Gallery, About, Contact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4114800"/>
            <a:ext cx="109728" cy="109728"/>
          </a:xfrm>
          <a:prstGeom prst="ellipse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005072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0"/>
                </a:solidFill>
                <a:latin typeface="Calibri"/>
              </a:rPr>
              <a:t>Temple branding in one theme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7B1A1A"/>
                </a:solidFill>
                <a:latin typeface="Georgia"/>
              </a:rPr>
              <a:t>Five languages, built for the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C87A1E"/>
                </a:solidFill>
                <a:latin typeface="Calibri"/>
              </a:rPr>
              <a:t>English, Telugu, Tamil, Kannada, Hindi: each on its own URL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87777"/>
                </a:solidFill>
                <a:latin typeface="Calibri"/>
              </a:rPr>
              <a:t>Temple Platform  |  Vriksha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19" y="1508760"/>
            <a:ext cx="6492240" cy="4091939"/>
          </a:xfrm>
          <a:prstGeom prst="rect">
            <a:avLst/>
          </a:prstGeom>
          <a:solidFill>
            <a:srgbClr val="FFFFFF"/>
          </a:solidFill>
          <a:ln w="12700">
            <a:solidFill>
              <a:srgbClr val="D8C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lug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400800" cy="4000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43800" y="1508760"/>
            <a:ext cx="21618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554480"/>
            <a:ext cx="2070400" cy="448056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966960" y="1847088"/>
            <a:ext cx="109728" cy="109728"/>
          </a:xfrm>
          <a:prstGeom prst="ellipse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0" y="1737360"/>
            <a:ext cx="182879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Per-language SEO</a:t>
            </a:r>
          </a:p>
        </p:txBody>
      </p:sp>
      <p:sp>
        <p:nvSpPr>
          <p:cNvPr id="12" name="Oval 11"/>
          <p:cNvSpPr/>
          <p:nvPr/>
        </p:nvSpPr>
        <p:spPr>
          <a:xfrm>
            <a:off x="9966960" y="2414016"/>
            <a:ext cx="109728" cy="109728"/>
          </a:xfrm>
          <a:prstGeom prst="ellipse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0" y="2304288"/>
            <a:ext cx="182879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Mobile-first</a:t>
            </a:r>
          </a:p>
        </p:txBody>
      </p:sp>
      <p:sp>
        <p:nvSpPr>
          <p:cNvPr id="14" name="Oval 13"/>
          <p:cNvSpPr/>
          <p:nvPr/>
        </p:nvSpPr>
        <p:spPr>
          <a:xfrm>
            <a:off x="9966960" y="2980944"/>
            <a:ext cx="109728" cy="109728"/>
          </a:xfrm>
          <a:prstGeom prst="ellipse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0" y="2871215"/>
            <a:ext cx="182879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Add a language with one 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46320"/>
            <a:ext cx="6400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0"/>
                </a:solidFill>
                <a:latin typeface="Calibri"/>
              </a:rPr>
              <a:t>Search engines see every language: canonical and hreflang tags, sitemap, structured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7B1A1A"/>
                </a:solidFill>
                <a:latin typeface="Georgia"/>
              </a:rPr>
              <a:t>Devotee journey: book a seva in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C87A1E"/>
                </a:solidFill>
                <a:latin typeface="Calibri"/>
              </a:rPr>
              <a:t>No account needed; account optional for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87777"/>
                </a:solidFill>
                <a:latin typeface="Calibri"/>
              </a:rPr>
              <a:t>Temple Platform  |  Vriksha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19" y="1508760"/>
            <a:ext cx="5029200" cy="31775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ooj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4937760" cy="308610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6035040" y="1645920"/>
            <a:ext cx="548640" cy="548640"/>
          </a:xfrm>
          <a:prstGeom prst="ellipse">
            <a:avLst/>
          </a:prstGeom>
          <a:solidFill>
            <a:srgbClr val="7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0" y="169164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69164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B2020"/>
                </a:solidFill>
                <a:latin typeface="Calibri"/>
              </a:rPr>
              <a:t>Choose a seva</a:t>
            </a:r>
          </a:p>
        </p:txBody>
      </p:sp>
      <p:sp>
        <p:nvSpPr>
          <p:cNvPr id="11" name="Oval 10"/>
          <p:cNvSpPr/>
          <p:nvPr/>
        </p:nvSpPr>
        <p:spPr>
          <a:xfrm>
            <a:off x="6035040" y="2514600"/>
            <a:ext cx="548640" cy="548640"/>
          </a:xfrm>
          <a:prstGeom prst="ellipse">
            <a:avLst/>
          </a:prstGeom>
          <a:solidFill>
            <a:srgbClr val="7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25603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56032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B2020"/>
                </a:solidFill>
                <a:latin typeface="Calibri"/>
              </a:rPr>
              <a:t>Verify email with OTP</a:t>
            </a:r>
          </a:p>
        </p:txBody>
      </p:sp>
      <p:sp>
        <p:nvSpPr>
          <p:cNvPr id="14" name="Oval 13"/>
          <p:cNvSpPr/>
          <p:nvPr/>
        </p:nvSpPr>
        <p:spPr>
          <a:xfrm>
            <a:off x="6035040" y="3383280"/>
            <a:ext cx="548640" cy="548640"/>
          </a:xfrm>
          <a:prstGeom prst="ellipse">
            <a:avLst/>
          </a:prstGeom>
          <a:solidFill>
            <a:srgbClr val="7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342900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34290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B2020"/>
                </a:solidFill>
                <a:latin typeface="Calibri"/>
              </a:rPr>
              <a:t>Booking confirmed + QR ticket by email</a:t>
            </a:r>
          </a:p>
        </p:txBody>
      </p:sp>
      <p:sp>
        <p:nvSpPr>
          <p:cNvPr id="17" name="Oval 16"/>
          <p:cNvSpPr/>
          <p:nvPr/>
        </p:nvSpPr>
        <p:spPr>
          <a:xfrm>
            <a:off x="6035040" y="4251959"/>
            <a:ext cx="548640" cy="548640"/>
          </a:xfrm>
          <a:prstGeom prst="ellipse">
            <a:avLst/>
          </a:prstGeom>
          <a:solidFill>
            <a:srgbClr val="7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4297679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4297679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B2020"/>
                </a:solidFill>
                <a:latin typeface="Calibri"/>
              </a:rPr>
              <a:t>Pay at the counter (or online with gateway add-on)</a:t>
            </a:r>
          </a:p>
        </p:txBody>
      </p:sp>
      <p:sp>
        <p:nvSpPr>
          <p:cNvPr id="20" name="Oval 19"/>
          <p:cNvSpPr/>
          <p:nvPr/>
        </p:nvSpPr>
        <p:spPr>
          <a:xfrm>
            <a:off x="6035040" y="5120640"/>
            <a:ext cx="548640" cy="548640"/>
          </a:xfrm>
          <a:prstGeom prst="ellipse">
            <a:avLst/>
          </a:prstGeom>
          <a:solidFill>
            <a:srgbClr val="7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0" y="5166359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5166359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B2020"/>
                </a:solidFill>
                <a:latin typeface="Calibri"/>
              </a:rPr>
              <a:t>Staff scans QR at the temple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94360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87A1E"/>
                </a:solidFill>
                <a:latin typeface="Calibri"/>
              </a:rPr>
              <a:t>Optional sign-in shows 'My Bookings'; personal blessing email on birthdays and anniversaries.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7B1A1A"/>
                </a:solidFill>
                <a:latin typeface="Georgia"/>
              </a:rPr>
              <a:t>Donations and finance with transparency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C87A1E"/>
                </a:solidFill>
                <a:latin typeface="Calibri"/>
              </a:rPr>
              <a:t>Every donation and paid seva posts to the ledger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87777"/>
                </a:solidFill>
                <a:latin typeface="Calibri"/>
              </a:rPr>
              <a:t>Temple Platform  |  Vriksha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19" y="1508760"/>
            <a:ext cx="6858000" cy="43205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dmin_fi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766560" cy="422910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7680960" y="1847088"/>
            <a:ext cx="109728" cy="109728"/>
          </a:xfrm>
          <a:prstGeom prst="ellipse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0" y="1737360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0"/>
                </a:solidFill>
                <a:latin typeface="Calibri"/>
              </a:rPr>
              <a:t>Donors and donations recorded by staff</a:t>
            </a:r>
          </a:p>
        </p:txBody>
      </p:sp>
      <p:sp>
        <p:nvSpPr>
          <p:cNvPr id="10" name="Oval 9"/>
          <p:cNvSpPr/>
          <p:nvPr/>
        </p:nvSpPr>
        <p:spPr>
          <a:xfrm>
            <a:off x="7680960" y="2414016"/>
            <a:ext cx="109728" cy="109728"/>
          </a:xfrm>
          <a:prstGeom prst="ellipse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2304288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0"/>
                </a:solidFill>
                <a:latin typeface="Calibri"/>
              </a:rPr>
              <a:t>PDF receipts; once issued they cannot be edited or deleted</a:t>
            </a:r>
          </a:p>
        </p:txBody>
      </p:sp>
      <p:sp>
        <p:nvSpPr>
          <p:cNvPr id="12" name="Oval 11"/>
          <p:cNvSpPr/>
          <p:nvPr/>
        </p:nvSpPr>
        <p:spPr>
          <a:xfrm>
            <a:off x="7680960" y="2980944"/>
            <a:ext cx="109728" cy="109728"/>
          </a:xfrm>
          <a:prstGeom prst="ellipse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0" y="2871215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0"/>
                </a:solidFill>
                <a:latin typeface="Calibri"/>
              </a:rPr>
              <a:t>Income by source, expenses by category</a:t>
            </a:r>
          </a:p>
        </p:txBody>
      </p:sp>
      <p:sp>
        <p:nvSpPr>
          <p:cNvPr id="14" name="Oval 13"/>
          <p:cNvSpPr/>
          <p:nvPr/>
        </p:nvSpPr>
        <p:spPr>
          <a:xfrm>
            <a:off x="7680960" y="3547872"/>
            <a:ext cx="109728" cy="109728"/>
          </a:xfrm>
          <a:prstGeom prst="ellipse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0" y="3438144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0"/>
                </a:solidFill>
                <a:latin typeface="Calibri"/>
              </a:rPr>
              <a:t>CSV and PDF ledger export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0" y="4114800"/>
            <a:ext cx="109728" cy="109728"/>
          </a:xfrm>
          <a:prstGeom prst="ellipse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4005072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0"/>
                </a:solidFill>
                <a:latin typeface="Calibri"/>
              </a:rPr>
              <a:t>Gateway (UPI/cards) available as add-on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7B1A1A"/>
                </a:solidFill>
                <a:latin typeface="Georgia"/>
              </a:rPr>
              <a:t>Behind the scenes: the admin panel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C87A1E"/>
                </a:solidFill>
                <a:latin typeface="Calibri"/>
              </a:rPr>
              <a:t>Staff manage everything without a developer: 14 modules, 5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87777"/>
                </a:solidFill>
                <a:latin typeface="Calibri"/>
              </a:rPr>
              <a:t>Temple Platform  |  Vriksha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2651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7B1A1A"/>
                </a:solidFill>
                <a:latin typeface="Calibri"/>
              </a:rPr>
              <a:t>Dashboard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737360"/>
            <a:ext cx="2651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783080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7B1A1A"/>
                </a:solidFill>
                <a:latin typeface="Calibri"/>
              </a:rPr>
              <a:t>Announcements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2651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783080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7B1A1A"/>
                </a:solidFill>
                <a:latin typeface="Calibri"/>
              </a:rPr>
              <a:t>Festivals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2560" y="1737360"/>
            <a:ext cx="2651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783080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7B1A1A"/>
                </a:solidFill>
                <a:latin typeface="Calibri"/>
              </a:rPr>
              <a:t>Poojas &amp; Sevas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514600"/>
            <a:ext cx="2651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60320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7B1A1A"/>
                </a:solidFill>
                <a:latin typeface="Calibri"/>
              </a:rPr>
              <a:t>Gallery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2514600"/>
            <a:ext cx="2651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2560320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7B1A1A"/>
                </a:solidFill>
                <a:latin typeface="Calibri"/>
              </a:rPr>
              <a:t>Timings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514600"/>
            <a:ext cx="2651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2560320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7B1A1A"/>
                </a:solidFill>
                <a:latin typeface="Calibri"/>
              </a:rPr>
              <a:t>Seva Tickets + QR scan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2514600"/>
            <a:ext cx="2651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2560320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7B1A1A"/>
                </a:solidFill>
                <a:latin typeface="Calibri"/>
              </a:rPr>
              <a:t>Donors &amp; Donations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291839"/>
            <a:ext cx="2651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337560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7B1A1A"/>
                </a:solidFill>
                <a:latin typeface="Calibri"/>
              </a:rPr>
              <a:t>Finance ledger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0" y="3291839"/>
            <a:ext cx="2651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0" y="3337560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7B1A1A"/>
                </a:solidFill>
                <a:latin typeface="Calibri"/>
              </a:rPr>
              <a:t>Members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291839"/>
            <a:ext cx="2651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3337560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7B1A1A"/>
                </a:solidFill>
                <a:latin typeface="Calibri"/>
              </a:rPr>
              <a:t>Messages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3291839"/>
            <a:ext cx="2651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0" y="3337560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7B1A1A"/>
                </a:solidFill>
                <a:latin typeface="Calibri"/>
              </a:rPr>
              <a:t>Users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069079"/>
            <a:ext cx="2651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14800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7B1A1A"/>
                </a:solidFill>
                <a:latin typeface="Calibri"/>
              </a:rPr>
              <a:t>Audit log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3280" y="4069079"/>
            <a:ext cx="2651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0" y="4114800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7B1A1A"/>
                </a:solidFill>
                <a:latin typeface="Calibri"/>
              </a:rPr>
              <a:t>Temple profile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00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7A1E"/>
                </a:solidFill>
                <a:latin typeface="Georgia"/>
              </a:rPr>
              <a:t>Roles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303520"/>
            <a:ext cx="2148840" cy="1005840"/>
          </a:xfrm>
          <a:prstGeom prst="rect">
            <a:avLst/>
          </a:prstGeom>
          <a:solidFill>
            <a:srgbClr val="7B1A1A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Super Admin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715000"/>
            <a:ext cx="1965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3E3C8"/>
                </a:solidFill>
                <a:latin typeface="Calibri"/>
              </a:rPr>
              <a:t>Everything + users + audit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34640" y="5303520"/>
            <a:ext cx="2148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26080" y="5349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B1A1A"/>
                </a:solidFill>
                <a:latin typeface="Calibri"/>
              </a:rPr>
              <a:t>Admin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5715000"/>
            <a:ext cx="1965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020"/>
                </a:solidFill>
                <a:latin typeface="Calibri"/>
              </a:rPr>
              <a:t>All content, donors, finance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5303520"/>
            <a:ext cx="2148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79" y="5349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B1A1A"/>
                </a:solidFill>
                <a:latin typeface="Calibri"/>
              </a:rPr>
              <a:t>Trustee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12079" y="5715000"/>
            <a:ext cx="1965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020"/>
                </a:solidFill>
                <a:latin typeface="Calibri"/>
              </a:rPr>
              <a:t>Read-only oversight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06640" y="5303520"/>
            <a:ext cx="2148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79" y="5349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B1A1A"/>
                </a:solidFill>
                <a:latin typeface="Calibri"/>
              </a:rPr>
              <a:t>Staff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79" y="5715000"/>
            <a:ext cx="1965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020"/>
                </a:solidFill>
                <a:latin typeface="Calibri"/>
              </a:rPr>
              <a:t>Content, tickets, messages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92640" y="5303520"/>
            <a:ext cx="2148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84080" y="5349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B1A1A"/>
                </a:solidFill>
                <a:latin typeface="Calibri"/>
              </a:rPr>
              <a:t>Devotee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84080" y="5715000"/>
            <a:ext cx="1965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020"/>
                </a:solidFill>
                <a:latin typeface="Calibri"/>
              </a:rPr>
              <a:t>Own bookings only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7B1A1A"/>
                </a:solidFill>
                <a:latin typeface="Georgia"/>
              </a:rPr>
              <a:t>Admin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C87A1E"/>
                </a:solidFill>
                <a:latin typeface="Calibri"/>
              </a:rPr>
              <a:t>Seeded demo data: dashboard, counter tickets, collect payment, QR 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87777"/>
                </a:solidFill>
                <a:latin typeface="Calibri"/>
              </a:rPr>
              <a:t>Temple Platform  |  Vriksha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19" y="1508760"/>
            <a:ext cx="55778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dmi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486400" cy="3429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72200" y="1508760"/>
            <a:ext cx="55778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ticke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486400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34924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0"/>
                </a:solidFill>
                <a:latin typeface="Calibri"/>
              </a:rPr>
              <a:t>Dashboard shows what needs attention; recent changes come from the audit log.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0"/>
                </a:solidFill>
                <a:latin typeface="Calibri"/>
              </a:rPr>
              <a:t>Tickets: 'Collect' records a pending payment into the finance ledger; 'Scan ticket' admits devotees.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7B1A1A"/>
                </a:solidFill>
                <a:latin typeface="Georgia"/>
              </a:rPr>
              <a:t>Walkthrough 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C87A1E"/>
                </a:solidFill>
                <a:latin typeface="Calibri"/>
              </a:rPr>
              <a:t>Click to play: public site, sign-in, admin (about 1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87777"/>
                </a:solidFill>
                <a:latin typeface="Calibri"/>
              </a:rPr>
              <a:t>Temple Platform  |  Vriksha Studio</a:t>
            </a:r>
          </a:p>
        </p:txBody>
      </p:sp>
      <p:pic>
        <p:nvPicPr>
          <p:cNvPr id="6" name="walkthroug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40280" y="1463040"/>
            <a:ext cx="7680960" cy="4800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7B1A1A"/>
                </a:solidFill>
                <a:latin typeface="Georgia"/>
              </a:rPr>
              <a:t>How it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C87A1E"/>
                </a:solidFill>
                <a:latin typeface="Calibri"/>
              </a:rPr>
              <a:t>Modern, tested, containerised: low cost to run, easy to hand 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87777"/>
                </a:solidFill>
                <a:latin typeface="Calibri"/>
              </a:rPr>
              <a:t>Temple Platform  |  Vriksha Studio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B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20116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7B1A1A"/>
                </a:solidFill>
                <a:latin typeface="Calibri"/>
              </a:rPr>
              <a:t>Devotee / Staff</a:t>
            </a:r>
          </a:p>
          <a:p>
            <a:pPr algn="ctr">
              <a:spcAft>
                <a:spcPts val="600"/>
              </a:spcAft>
            </a:pPr>
            <a:r>
              <a:rPr sz="1300" b="1">
                <a:solidFill>
                  <a:srgbClr val="7B1A1A"/>
                </a:solidFill>
                <a:latin typeface="Calibri"/>
              </a:rPr>
              <a:t>(browser)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286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7A1E"/>
                </a:solidFill>
                <a:latin typeface="Calibri"/>
              </a:rP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201168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B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2011680"/>
            <a:ext cx="20116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7B1A1A"/>
                </a:solidFill>
                <a:latin typeface="Calibri"/>
              </a:rPr>
              <a:t>Nginx + TLS</a:t>
            </a:r>
          </a:p>
          <a:p>
            <a:pPr algn="ctr">
              <a:spcAft>
                <a:spcPts val="600"/>
              </a:spcAft>
            </a:pPr>
            <a:r>
              <a:rPr sz="1300" b="1">
                <a:solidFill>
                  <a:srgbClr val="7B1A1A"/>
                </a:solidFill>
                <a:latin typeface="Calibri"/>
              </a:rPr>
              <a:t>(Let's Encrypt)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286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7A1E"/>
                </a:solidFill>
                <a:latin typeface="Calibri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2011680"/>
            <a:ext cx="2011680" cy="1188720"/>
          </a:xfrm>
          <a:prstGeom prst="roundRect">
            <a:avLst/>
          </a:prstGeom>
          <a:solidFill>
            <a:srgbClr val="7B1A1A"/>
          </a:solidFill>
          <a:ln w="12700">
            <a:solidFill>
              <a:srgbClr val="7B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2011680"/>
            <a:ext cx="20116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Next.js 15 + React 19</a:t>
            </a:r>
          </a:p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public site, admin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2286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7A1E"/>
                </a:solidFill>
                <a:latin typeface="Calibri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011680"/>
            <a:ext cx="2011680" cy="1188720"/>
          </a:xfrm>
          <a:prstGeom prst="roundRect">
            <a:avLst/>
          </a:prstGeom>
          <a:solidFill>
            <a:srgbClr val="7B1A1A"/>
          </a:solidFill>
          <a:ln w="12700">
            <a:solidFill>
              <a:srgbClr val="7B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2011680"/>
            <a:ext cx="20116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FastAPI (Python)</a:t>
            </a:r>
          </a:p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52 REST endpoints, RBAC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2286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7A1E"/>
                </a:solidFill>
                <a:latin typeface="Calibri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2011680"/>
            <a:ext cx="2011680" cy="1188720"/>
          </a:xfrm>
          <a:prstGeom prst="roundRect">
            <a:avLst/>
          </a:prstGeom>
          <a:solidFill>
            <a:srgbClr val="C87A1E"/>
          </a:solidFill>
          <a:ln w="12700">
            <a:solidFill>
              <a:srgbClr val="7B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0" y="2011680"/>
            <a:ext cx="20116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720" y="3931920"/>
            <a:ext cx="22860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0" y="3931920"/>
            <a:ext cx="2286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2B2020"/>
                </a:solidFill>
                <a:latin typeface="Calibri"/>
              </a:rPr>
              <a:t>AWS S3</a:t>
            </a:r>
          </a:p>
          <a:p>
            <a:pPr algn="ctr">
              <a:spcAft>
                <a:spcPts val="600"/>
              </a:spcAft>
            </a:pPr>
            <a:r>
              <a:rPr sz="1200" b="1">
                <a:solidFill>
                  <a:srgbClr val="2B2020"/>
                </a:solidFill>
                <a:latin typeface="Calibri"/>
              </a:rPr>
              <a:t>gallery, tickets, receipts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931920"/>
            <a:ext cx="22860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3931920"/>
            <a:ext cx="2286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2B2020"/>
                </a:solidFill>
                <a:latin typeface="Calibri"/>
              </a:rPr>
              <a:t>AWS SES</a:t>
            </a:r>
          </a:p>
          <a:p>
            <a:pPr algn="ctr">
              <a:spcAft>
                <a:spcPts val="600"/>
              </a:spcAft>
            </a:pPr>
            <a:r>
              <a:rPr sz="1200" b="1">
                <a:solidFill>
                  <a:srgbClr val="2B2020"/>
                </a:solidFill>
                <a:latin typeface="Calibri"/>
              </a:rPr>
              <a:t>OTP, confirmations, alerts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749039"/>
            <a:ext cx="493776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020"/>
                </a:solidFill>
                <a:latin typeface="Calibri"/>
              </a:rPr>
              <a:t>One server per temple: ~₹1,000 a month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020"/>
                </a:solidFill>
                <a:latin typeface="Calibri"/>
              </a:rPr>
              <a:t>Docker Compose; GitHub Actions deploys after tests pass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020"/>
                </a:solidFill>
                <a:latin typeface="Calibri"/>
              </a:rPr>
              <a:t>21 versioned DB migrations, ~40 test modules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020"/>
                </a:solidFill>
                <a:latin typeface="Calibri"/>
              </a:rPr>
              <a:t>Each temple isolated: own domain, data and branding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7B1A1A"/>
                </a:solidFill>
                <a:latin typeface="Georgia"/>
              </a:rPr>
              <a:t>Trust: security and privacy built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87777"/>
                </a:solidFill>
                <a:latin typeface="Calibri"/>
              </a:rPr>
              <a:t>Temple Platform  |  Vriksha Studio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6118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611880" cy="91440"/>
          </a:xfrm>
          <a:prstGeom prst="rect">
            <a:avLst/>
          </a:prstGeom>
          <a:solidFill>
            <a:srgbClr val="7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B1A1A"/>
                </a:solidFill>
                <a:latin typeface="Georgia"/>
              </a:rPr>
              <a:t>Access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3246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Five roles; permissions checked on the server for every action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463040"/>
            <a:ext cx="36118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463040"/>
            <a:ext cx="3611880" cy="91440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64592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7A1E"/>
                </a:solidFill>
                <a:latin typeface="Georgia"/>
              </a:rPr>
              <a:t>Two-factor login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148840"/>
            <a:ext cx="3246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Email OTP; 30-minute idle timeout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463040"/>
            <a:ext cx="36118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463040"/>
            <a:ext cx="3611880" cy="91440"/>
          </a:xfrm>
          <a:prstGeom prst="rect">
            <a:avLst/>
          </a:prstGeom>
          <a:solidFill>
            <a:srgbClr val="7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64592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B1A1A"/>
                </a:solidFill>
                <a:latin typeface="Georgia"/>
              </a:rPr>
              <a:t>Audit trail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148840"/>
            <a:ext cx="3246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Every change recorded; alerts on bulk deletions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31920"/>
            <a:ext cx="36118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931920"/>
            <a:ext cx="3611880" cy="91440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7A1E"/>
                </a:solidFill>
                <a:latin typeface="Georgia"/>
              </a:rPr>
              <a:t>Abuse 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617720"/>
            <a:ext cx="3246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Rate limiting and bot challenge on public forms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931920"/>
            <a:ext cx="36118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3931920"/>
            <a:ext cx="3611880" cy="91440"/>
          </a:xfrm>
          <a:prstGeom prst="rect">
            <a:avLst/>
          </a:prstGeom>
          <a:solidFill>
            <a:srgbClr val="7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148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B1A1A"/>
                </a:solidFill>
                <a:latin typeface="Georgia"/>
              </a:rPr>
              <a:t>Privacy (DPDPA)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617720"/>
            <a:ext cx="3246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Privacy policy on site, emails and tickets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3931920"/>
            <a:ext cx="36118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38160" y="3931920"/>
            <a:ext cx="3611880" cy="91440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41148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7A1E"/>
                </a:solidFill>
                <a:latin typeface="Georgia"/>
              </a:rPr>
              <a:t>Safe by default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617720"/>
            <a:ext cx="3246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HTTPS, hashed passwords, no AWS keys in app, dependency audits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7B1A1A"/>
                </a:solidFill>
                <a:latin typeface="Georgia"/>
              </a:rPr>
              <a:t>Three packages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C87A1E"/>
                </a:solidFill>
                <a:latin typeface="Calibri"/>
              </a:rPr>
              <a:t>Same platform; choose what the temple needs today and grow later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87777"/>
                </a:solidFill>
                <a:latin typeface="Calibri"/>
              </a:rPr>
              <a:t>Temple Platform  |  Vriksha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61188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611880" cy="1371600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Essential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₹55,000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3-4 weeks  |  one-time, excl. GST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108960"/>
            <a:ext cx="31089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020"/>
                </a:solidFill>
                <a:latin typeface="Calibri"/>
              </a:rPr>
              <a:t>- Public website, 2 languages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020"/>
                </a:solidFill>
                <a:latin typeface="Calibri"/>
              </a:rPr>
              <a:t>- Admin CMS and roles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020"/>
                </a:solidFill>
                <a:latin typeface="Calibri"/>
              </a:rPr>
              <a:t>- Contact form, SEO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020"/>
                </a:solidFill>
                <a:latin typeface="Calibri"/>
              </a:rPr>
              <a:t>- Hosting setup, training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1188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611880" cy="1371600"/>
          </a:xfrm>
          <a:prstGeom prst="rect">
            <a:avLst/>
          </a:prstGeom>
          <a:solidFill>
            <a:srgbClr val="7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60020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Standard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011680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₹1,40,000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56032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6-8 weeks  |  one-time, excl. GST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108960"/>
            <a:ext cx="31089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020"/>
                </a:solidFill>
                <a:latin typeface="Calibri"/>
              </a:rPr>
              <a:t>- Everything in Essential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020"/>
                </a:solidFill>
                <a:latin typeface="Calibri"/>
              </a:rPr>
              <a:t>- 5 languages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020"/>
                </a:solidFill>
                <a:latin typeface="Calibri"/>
              </a:rPr>
              <a:t>- Seva booking, OTP, QR ticket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020"/>
                </a:solidFill>
                <a:latin typeface="Calibri"/>
              </a:rPr>
              <a:t>- Devotee accounts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020"/>
                </a:solidFill>
                <a:latin typeface="Calibri"/>
              </a:rPr>
              <a:t>- Donors and PDF receipts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554480"/>
            <a:ext cx="361188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554480"/>
            <a:ext cx="3611880" cy="1371600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0020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11680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₹2,60,000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56032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10-12 weeks  |  one-time, excl. GST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08960"/>
            <a:ext cx="31089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020"/>
                </a:solidFill>
                <a:latin typeface="Calibri"/>
              </a:rPr>
              <a:t>- Everything in Standard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020"/>
                </a:solidFill>
                <a:latin typeface="Calibri"/>
              </a:rPr>
              <a:t>- Finance ledger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020"/>
                </a:solidFill>
                <a:latin typeface="Calibri"/>
              </a:rPr>
              <a:t>- Member directory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020"/>
                </a:solidFill>
                <a:latin typeface="Calibri"/>
              </a:rPr>
              <a:t>- Audit log, 2FA, QR scan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020"/>
                </a:solidFill>
                <a:latin typeface="Calibri"/>
              </a:rPr>
              <a:t>- Occasion blessings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7B1A1A"/>
                </a:solidFill>
                <a:latin typeface="Georgia"/>
              </a:rPr>
              <a:t>What it costs to run, and the multi-temple saving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87777"/>
                </a:solidFill>
                <a:latin typeface="Calibri"/>
              </a:rPr>
              <a:t>Temple Platform  |  Vriksha Studio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69494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737360"/>
                <a:gridCol w="1737360"/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>
                    <a:solidFill>
                      <a:srgbClr val="7B1A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Essential</a:t>
                      </a:r>
                    </a:p>
                  </a:txBody>
                  <a:tcPr>
                    <a:solidFill>
                      <a:srgbClr val="7B1A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Standard</a:t>
                      </a:r>
                    </a:p>
                  </a:txBody>
                  <a:tcPr>
                    <a:solidFill>
                      <a:srgbClr val="7B1A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7B1A1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020"/>
                          </a:solidFill>
                          <a:latin typeface="Calibri"/>
                        </a:rPr>
                        <a:t>Hosting, email, domain, backups / 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020"/>
                          </a:solidFill>
                          <a:latin typeface="Calibri"/>
                        </a:rPr>
                        <a:t>₹13,600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020"/>
                          </a:solidFill>
                          <a:latin typeface="Calibri"/>
                        </a:rPr>
                        <a:t>₹15,900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020"/>
                          </a:solidFill>
                          <a:latin typeface="Calibri"/>
                        </a:rPr>
                        <a:t>₹23,700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020"/>
                          </a:solidFill>
                          <a:latin typeface="Calibri"/>
                        </a:rPr>
                        <a:t>Maintenance &amp; support / yr</a:t>
                      </a:r>
                    </a:p>
                  </a:txBody>
                  <a:tcPr>
                    <a:solidFill>
                      <a:srgbClr val="F5EF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020"/>
                          </a:solidFill>
                          <a:latin typeface="Calibri"/>
                        </a:rPr>
                        <a:t>₹24,000</a:t>
                      </a:r>
                    </a:p>
                  </a:txBody>
                  <a:tcPr>
                    <a:solidFill>
                      <a:srgbClr val="F5EF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020"/>
                          </a:solidFill>
                          <a:latin typeface="Calibri"/>
                        </a:rPr>
                        <a:t>₹48,000</a:t>
                      </a:r>
                    </a:p>
                  </a:txBody>
                  <a:tcPr>
                    <a:solidFill>
                      <a:srgbClr val="F5EF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020"/>
                          </a:solidFill>
                          <a:latin typeface="Calibri"/>
                        </a:rPr>
                        <a:t>₹84,000</a:t>
                      </a:r>
                    </a:p>
                  </a:txBody>
                  <a:tcPr>
                    <a:solidFill>
                      <a:srgbClr val="F5EFE6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020"/>
                          </a:solidFill>
                          <a:latin typeface="Calibri"/>
                        </a:rPr>
                        <a:t>Recurring / 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020"/>
                          </a:solidFill>
                          <a:latin typeface="Calibri"/>
                        </a:rPr>
                        <a:t>₹37,600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020"/>
                          </a:solidFill>
                          <a:latin typeface="Calibri"/>
                        </a:rPr>
                        <a:t>₹63,900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020"/>
                          </a:solidFill>
                          <a:latin typeface="Calibri"/>
                        </a:rPr>
                        <a:t>₹1,07,700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B2020"/>
                          </a:solidFill>
                          <a:latin typeface="Calibri"/>
                        </a:rPr>
                        <a:t>Year 1 total</a:t>
                      </a:r>
                    </a:p>
                  </a:txBody>
                  <a:tcPr>
                    <a:solidFill>
                      <a:srgbClr val="F5EF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B2020"/>
                          </a:solidFill>
                          <a:latin typeface="Calibri"/>
                        </a:rPr>
                        <a:t>₹92,600</a:t>
                      </a:r>
                    </a:p>
                  </a:txBody>
                  <a:tcPr>
                    <a:solidFill>
                      <a:srgbClr val="F5EF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B2020"/>
                          </a:solidFill>
                          <a:latin typeface="Calibri"/>
                        </a:rPr>
                        <a:t>₹2,03,900</a:t>
                      </a:r>
                    </a:p>
                  </a:txBody>
                  <a:tcPr>
                    <a:solidFill>
                      <a:srgbClr val="F5EF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B2020"/>
                          </a:solidFill>
                          <a:latin typeface="Calibri"/>
                        </a:rPr>
                        <a:t>₹3,67,700</a:t>
                      </a:r>
                    </a:p>
                  </a:txBody>
                  <a:tcPr>
                    <a:solidFill>
                      <a:srgbClr val="F5EFE6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B2020"/>
                          </a:solidFill>
                          <a:latin typeface="Calibri"/>
                        </a:rPr>
                        <a:t>3-year 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B2020"/>
                          </a:solidFill>
                          <a:latin typeface="Calibri"/>
                        </a:rPr>
                        <a:t>₹1,67,800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B2020"/>
                          </a:solidFill>
                          <a:latin typeface="Calibri"/>
                        </a:rPr>
                        <a:t>₹3,31,700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B2020"/>
                          </a:solidFill>
                          <a:latin typeface="Calibri"/>
                        </a:rPr>
                        <a:t>₹5,83,100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863840" y="1463040"/>
            <a:ext cx="3749039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63840" y="1463040"/>
            <a:ext cx="3749039" cy="91440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9" y="1645920"/>
            <a:ext cx="3383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7A1E"/>
                </a:solidFill>
                <a:latin typeface="Georgia"/>
              </a:rPr>
              <a:t>5 temples, 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2148840"/>
            <a:ext cx="3383279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One-time platform work: ₹90,000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Temples 2-5: 25% off build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Year 1 total: ₹9,69,500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Without programme: ₹10,19,500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377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4444"/>
                </a:solidFill>
                <a:latin typeface="Calibri"/>
              </a:rPr>
              <a:t>Estimates in INR excl. 18% GST; online payment gateway is an optional ₹35,000 add-on.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4444"/>
                </a:solidFill>
                <a:latin typeface="Calibri"/>
              </a:rPr>
              <a:t>Hosting alone is about ₹800-1,200 a month per temple. Full detail in the Budget document.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7B1A1A"/>
                </a:solidFill>
                <a:latin typeface="Georgia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C87A1E"/>
                </a:solidFill>
                <a:latin typeface="Calibri"/>
              </a:rPr>
              <a:t>From this demo to a live temple site in weeks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87777"/>
                </a:solidFill>
                <a:latin typeface="Calibri"/>
              </a:rPr>
              <a:t>Temple Platform  |  Vriksha Studio</a:t>
            </a:r>
          </a:p>
        </p:txBody>
      </p:sp>
      <p:sp>
        <p:nvSpPr>
          <p:cNvPr id="6" name="Pentagon 5"/>
          <p:cNvSpPr/>
          <p:nvPr/>
        </p:nvSpPr>
        <p:spPr>
          <a:xfrm>
            <a:off x="548640" y="2103120"/>
            <a:ext cx="2103120" cy="640080"/>
          </a:xfrm>
          <a:prstGeom prst="homePlate">
            <a:avLst/>
          </a:prstGeom>
          <a:solidFill>
            <a:srgbClr val="7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Week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2103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Choose package, sign quotation</a:t>
            </a:r>
          </a:p>
        </p:txBody>
      </p:sp>
      <p:sp>
        <p:nvSpPr>
          <p:cNvPr id="9" name="Pentagon 8"/>
          <p:cNvSpPr/>
          <p:nvPr/>
        </p:nvSpPr>
        <p:spPr>
          <a:xfrm>
            <a:off x="2834640" y="2103120"/>
            <a:ext cx="2103120" cy="640080"/>
          </a:xfrm>
          <a:prstGeom prst="homePlate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210312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Week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926080"/>
            <a:ext cx="2103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Collect content: timings, sevas, photos, committee</a:t>
            </a:r>
          </a:p>
        </p:txBody>
      </p:sp>
      <p:sp>
        <p:nvSpPr>
          <p:cNvPr id="12" name="Pentagon 11"/>
          <p:cNvSpPr/>
          <p:nvPr/>
        </p:nvSpPr>
        <p:spPr>
          <a:xfrm>
            <a:off x="5120640" y="2103120"/>
            <a:ext cx="2103120" cy="640080"/>
          </a:xfrm>
          <a:prstGeom prst="homePlate">
            <a:avLst/>
          </a:prstGeom>
          <a:solidFill>
            <a:srgbClr val="7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10312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Weeks 2-N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926080"/>
            <a:ext cx="2103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Build on staging; review with temple</a:t>
            </a:r>
          </a:p>
        </p:txBody>
      </p:sp>
      <p:sp>
        <p:nvSpPr>
          <p:cNvPr id="15" name="Pentagon 14"/>
          <p:cNvSpPr/>
          <p:nvPr/>
        </p:nvSpPr>
        <p:spPr>
          <a:xfrm>
            <a:off x="7406640" y="2103120"/>
            <a:ext cx="2103120" cy="640080"/>
          </a:xfrm>
          <a:prstGeom prst="homePlate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10312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Go-live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926080"/>
            <a:ext cx="2103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Domain, HTTPS, training, handover</a:t>
            </a:r>
          </a:p>
        </p:txBody>
      </p:sp>
      <p:sp>
        <p:nvSpPr>
          <p:cNvPr id="18" name="Pentagon 17"/>
          <p:cNvSpPr/>
          <p:nvPr/>
        </p:nvSpPr>
        <p:spPr>
          <a:xfrm>
            <a:off x="9692640" y="2103120"/>
            <a:ext cx="2103120" cy="640080"/>
          </a:xfrm>
          <a:prstGeom prst="homePlate">
            <a:avLst/>
          </a:prstGeom>
          <a:solidFill>
            <a:srgbClr val="7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210312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After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2926080"/>
            <a:ext cx="2103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020"/>
                </a:solidFill>
                <a:latin typeface="Calibri"/>
              </a:rPr>
              <a:t>30-day hypercare, then maintenance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7548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B1A1A"/>
                </a:solidFill>
                <a:latin typeface="Georgia"/>
              </a:rPr>
              <a:t>Pilot offer: the next temple's staging site can be set up for review before any commitment.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C87A1E"/>
                </a:solidFill>
                <a:latin typeface="Calibri"/>
              </a:rPr>
              <a:t>Chaithanya M  |  vrikshastudio9@gmail.com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